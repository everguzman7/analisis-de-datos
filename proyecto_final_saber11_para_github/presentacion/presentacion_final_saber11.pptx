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5cd80924f044a1" /><Relationship Type="http://schemas.openxmlformats.org/officeDocument/2006/relationships/extended-properties" Target="/docProps/app.xml" Id="Rc8bf60897337423b" /><Relationship Type="http://schemas.openxmlformats.org/officeDocument/2006/relationships/officeDocument" Target="/ppt/presentation.xml" Id="Rc17e5bb2a7e24ec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085be18ef742bc"/>
  </p:sldMasterIdLst>
  <p:notesMasterIdLst>
    <p:notesMasterId xmlns:r="http://schemas.openxmlformats.org/officeDocument/2006/relationships" r:id="R762b539d28dc4d94"/>
  </p:notesMasterIdLst>
  <p:sldIdLst>
    <p:sldId xmlns:r="http://schemas.openxmlformats.org/officeDocument/2006/relationships" id="256" r:id="R8dc7ba81824d4780"/>
    <p:sldId xmlns:r="http://schemas.openxmlformats.org/officeDocument/2006/relationships" id="257" r:id="Re8e654b9c7704228"/>
    <p:sldId xmlns:r="http://schemas.openxmlformats.org/officeDocument/2006/relationships" id="258" r:id="R16b28c276b244b07"/>
    <p:sldId xmlns:r="http://schemas.openxmlformats.org/officeDocument/2006/relationships" id="259" r:id="Rb893aa5e12b14f3e"/>
    <p:sldId xmlns:r="http://schemas.openxmlformats.org/officeDocument/2006/relationships" id="260" r:id="Raea2fdca5f68465a"/>
    <p:sldId xmlns:r="http://schemas.openxmlformats.org/officeDocument/2006/relationships" id="261" r:id="R4d8a516f8f1c453a"/>
    <p:sldId xmlns:r="http://schemas.openxmlformats.org/officeDocument/2006/relationships" id="262" r:id="Rf833eea6423946c7"/>
    <p:sldId xmlns:r="http://schemas.openxmlformats.org/officeDocument/2006/relationships" id="263" r:id="R24aafa49acc049d4"/>
    <p:sldId xmlns:r="http://schemas.openxmlformats.org/officeDocument/2006/relationships" id="264" r:id="R492a9ba34f9d49f9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085be18ef742bc" /><Relationship Type="http://schemas.openxmlformats.org/officeDocument/2006/relationships/theme" Target="/ppt/theme/theme1.xml" Id="Rb5261228d6314197" /><Relationship Type="http://schemas.openxmlformats.org/officeDocument/2006/relationships/notesMaster" Target="/ppt/notesMasters/notesMaster1.xml" Id="R762b539d28dc4d94" /><Relationship Type="http://schemas.openxmlformats.org/officeDocument/2006/relationships/presProps" Target="/ppt/presProps.xml" Id="R802e414987de412a" /><Relationship Type="http://schemas.openxmlformats.org/officeDocument/2006/relationships/viewProps" Target="/ppt/viewProps.xml" Id="R5e4263e301704215" /><Relationship Type="http://schemas.openxmlformats.org/officeDocument/2006/relationships/tableStyles" Target="/ppt/tableStyles.xml" Id="R8468a2b71ade4ee1" /><Relationship Type="http://schemas.openxmlformats.org/officeDocument/2006/relationships/slide" Target="/ppt/slides/slide1.xml" Id="R8dc7ba81824d4780" /><Relationship Type="http://schemas.openxmlformats.org/officeDocument/2006/relationships/slide" Target="/ppt/slides/slide2.xml" Id="Re8e654b9c7704228" /><Relationship Type="http://schemas.openxmlformats.org/officeDocument/2006/relationships/slide" Target="/ppt/slides/slide3.xml" Id="R16b28c276b244b07" /><Relationship Type="http://schemas.openxmlformats.org/officeDocument/2006/relationships/slide" Target="/ppt/slides/slide4.xml" Id="Rb893aa5e12b14f3e" /><Relationship Type="http://schemas.openxmlformats.org/officeDocument/2006/relationships/slide" Target="/ppt/slides/slide5.xml" Id="Raea2fdca5f68465a" /><Relationship Type="http://schemas.openxmlformats.org/officeDocument/2006/relationships/slide" Target="/ppt/slides/slide6.xml" Id="R4d8a516f8f1c453a" /><Relationship Type="http://schemas.openxmlformats.org/officeDocument/2006/relationships/slide" Target="/ppt/slides/slide7.xml" Id="Rf833eea6423946c7" /><Relationship Type="http://schemas.openxmlformats.org/officeDocument/2006/relationships/slide" Target="/ppt/slides/slide8.xml" Id="R24aafa49acc049d4" /><Relationship Type="http://schemas.openxmlformats.org/officeDocument/2006/relationships/slide" Target="/ppt/slides/slide9.xml" Id="R492a9ba34f9d49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1dee3378614b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a49d2cf6714b92" /><Relationship Type="http://schemas.openxmlformats.org/officeDocument/2006/relationships/notesMaster" Target="/ppt/notesMasters/notesMaster1.xml" Id="Rc5c2baf4298148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823ef0fcfb4c8d" /><Relationship Type="http://schemas.openxmlformats.org/officeDocument/2006/relationships/notesMaster" Target="/ppt/notesMasters/notesMaster1.xml" Id="Rc53268c0068141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78727059f04de1" /><Relationship Type="http://schemas.openxmlformats.org/officeDocument/2006/relationships/notesMaster" Target="/ppt/notesMasters/notesMaster1.xml" Id="R04d8001853ab4f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4ac138d0c3434d" /><Relationship Type="http://schemas.openxmlformats.org/officeDocument/2006/relationships/notesMaster" Target="/ppt/notesMasters/notesMaster1.xml" Id="R9e3552bf94cd46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018e3a70d44783" /><Relationship Type="http://schemas.openxmlformats.org/officeDocument/2006/relationships/notesMaster" Target="/ppt/notesMasters/notesMaster1.xml" Id="Rc43baa9dbc1c45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487a57b23f4cfc" /><Relationship Type="http://schemas.openxmlformats.org/officeDocument/2006/relationships/notesMaster" Target="/ppt/notesMasters/notesMaster1.xml" Id="Rf4ac40c817f44e5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f675c01e7d4291" /><Relationship Type="http://schemas.openxmlformats.org/officeDocument/2006/relationships/notesMaster" Target="/ppt/notesMasters/notesMaster1.xml" Id="Rec5a3651209545d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94d59a4a7548fc" /><Relationship Type="http://schemas.openxmlformats.org/officeDocument/2006/relationships/notesMaster" Target="/ppt/notesMasters/notesMaster1.xml" Id="R2e2b8ae7ad7b4b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17cdf03f1174d29" /><Relationship Type="http://schemas.openxmlformats.org/officeDocument/2006/relationships/notesMaster" Target="/ppt/notesMasters/notesMaster1.xml" Id="R376645b7d18d4c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748f6f848493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8f83bc807d9476f" /><Relationship Type="http://schemas.openxmlformats.org/officeDocument/2006/relationships/slideLayout" Target="/ppt/slideLayouts/slideLayout2.xml" Id="R48b002f6068b45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b002f6068b45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837ea853684df3" /><Relationship Type="http://schemas.openxmlformats.org/officeDocument/2006/relationships/notesSlide" Target="/ppt/notesSlides/notesSlide1.xml" Id="R3840c55d873e4d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e1bba9a87b4653" /><Relationship Type="http://schemas.openxmlformats.org/officeDocument/2006/relationships/notesSlide" Target="/ppt/notesSlides/notesSlide2.xml" Id="Raf894616ad5a4c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5da0d0b4844cf1" /><Relationship Type="http://schemas.openxmlformats.org/officeDocument/2006/relationships/notesSlide" Target="/ppt/notesSlides/notesSlide3.xml" Id="Rcca208bfffa544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33ddb5052d4799" /><Relationship Type="http://schemas.openxmlformats.org/officeDocument/2006/relationships/notesSlide" Target="/ppt/notesSlides/notesSlide4.xml" Id="Rcafb142484c743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120efb2e9a4d20" /><Relationship Type="http://schemas.openxmlformats.org/officeDocument/2006/relationships/chart" Target="/ppt/slides/charts/chart1.xml" Id="R24622e33d4ec46b9" /><Relationship Type="http://schemas.openxmlformats.org/officeDocument/2006/relationships/notesSlide" Target="/ppt/notesSlides/notesSlide5.xml" Id="Rb3ac057e08884a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f7ef7066cd4e3f" /><Relationship Type="http://schemas.openxmlformats.org/officeDocument/2006/relationships/notesSlide" Target="/ppt/notesSlides/notesSlide6.xml" Id="Rdb5fc8253d0140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075e7013fa458e" /><Relationship Type="http://schemas.openxmlformats.org/officeDocument/2006/relationships/notesSlide" Target="/ppt/notesSlides/notesSlide7.xml" Id="R9587f6dcb95c4e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60279116db44d1" /><Relationship Type="http://schemas.openxmlformats.org/officeDocument/2006/relationships/notesSlide" Target="/ppt/notesSlides/notesSlide8.xml" Id="Rd09ed909c0704b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156c6515bf4660" /><Relationship Type="http://schemas.openxmlformats.org/officeDocument/2006/relationships/notesSlide" Target="/ppt/notesSlides/notesSlide9.xml" Id="R284bc8e5c23c483c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[object Object]</a:t>
            </a:r>
          </a:p>
        </c:rich>
      </c:tx>
      <c:overlay val="0"/>
    </c:title>
    <c:autoTitleDeleted val="0"/>
    <c:plotArea>
      <c:layout/>
      <c:barChart>
        <c:barDir val="col"/>
        <c:varyColors val="0"/>
        <c:ser>
          <c:idx val="0"/>
          <c:order val="0"/>
          <c:tx>
            <c:v>Estudiantes</c:v>
          </c:tx>
          <c:cat>
            <c:strLit>
              <c:ptCount val="2"/>
              <c:pt idx="0">
                <c:v>No alto</c:v>
              </c:pt>
              <c:pt idx="1">
                <c:v>Alto</c:v>
              </c:pt>
            </c:strLit>
          </c:cat>
          <c:val>
            <c:numLit>
              <c:formatCode>General</c:formatCode>
              <c:ptCount val="2"/>
              <c:pt idx="0">
                <c:v>17380</c:v>
              </c:pt>
              <c:pt idx="1">
                <c:v>6094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70779DC-D383-4D17-9007-AB9ACACC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Analisis de resultados Saber 11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565C421-3B36-473E-9218-54E30A3A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53530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Proyecto final de Analitica de Datos | Milestone 3</a:t>
            </a:r>
          </a:p>
        </p:txBody>
      </p:sp>
      <p:sp>
        <p:nvSpPr>
          <p:cNvPr id="3" name="cover-rule">
            <a:extLst xmlns:a="http://schemas.openxmlformats.org/drawingml/2006/main">
              <a:ext uri="{FF2B5EF4-FFF2-40B4-BE49-F238E27FC236}">
                <a16:creationId xmlns:a16="http://schemas.microsoft.com/office/drawing/2014/main" id="{1F8A0464-6C52-4607-9FA7-C8332194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3429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B82D"/>
          </a:solidFill>
          <a:ln xmlns:a="http://schemas.openxmlformats.org/drawingml/2006/main" w="0">
            <a:solidFill>
              <a:srgbClr val="94B82D"/>
            </a:solidFill>
            <a:prstDash val="solid"/>
          </a:ln>
        </p:spPr>
      </p:sp>
      <p:sp>
        <p:nvSpPr>
          <p:cNvPr id="4" name="cover-claim">
            <a:extLst xmlns:a="http://schemas.openxmlformats.org/drawingml/2006/main">
              <a:ext uri="{FF2B5EF4-FFF2-40B4-BE49-F238E27FC236}">
                <a16:creationId xmlns:a16="http://schemas.microsoft.com/office/drawing/2014/main" id="{2319DF8D-8AE3-43FC-8588-590010EB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118300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7212B"/>
                </a:solidFill>
              </a:defRPr>
            </a:pPr>
            <a:r>
              <a:t>Objetivo: analizar factores institucionales y familiares asociados al puntaje global alto.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11792C67-A113-494A-BE1A-06088C67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6459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2616B"/>
                </a:solidFill>
              </a:defRPr>
            </a:pPr>
            <a:r>
              <a:t>Ever Guzman</a:t>
            </a:r>
          </a:p>
        </p:txBody>
      </p:sp>
    </p:spTree>
    <p:extLst>
      <p:ext uri="{BB962C8B-B14F-4D97-AF65-F5344CB8AC3E}">
        <p14:creationId xmlns:p14="http://schemas.microsoft.com/office/powerpoint/2010/main" val="155302070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CF54F662-3213-46D2-BFEA-816521F5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Problema y pregunta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A56387F-CCA1-4F29-B7BA-4EFC3AAE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8820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Saber 11 permite estudiar diferencias de desempeno academico con datos reales.</a:t>
            </a:r>
          </a:p>
        </p:txBody>
      </p:sp>
      <p:sp>
        <p:nvSpPr>
          <p:cNvPr id="3" name="dot-1">
            <a:extLst xmlns:a="http://schemas.openxmlformats.org/drawingml/2006/main">
              <a:ext uri="{FF2B5EF4-FFF2-40B4-BE49-F238E27FC236}">
                <a16:creationId xmlns:a16="http://schemas.microsoft.com/office/drawing/2014/main" id="{CC3D85B7-1BC0-4882-AFB4-0B017003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4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EEC39D53-1856-46B5-900D-B3FF9B86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104965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Problema: no todos los estudiantes tienen las mismas condiciones institucionales y familiares.</a:t>
            </a:r>
          </a:p>
        </p:txBody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81AF19FD-B940-4405-9400-4CD6263D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6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C6C12EA6-F151-4BAE-89FF-D9C661AD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9982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Pregunta: que variables se relacionan con la probabilidad de obtener puntaje global alto?</a:t>
            </a:r>
          </a:p>
        </p:txBody>
      </p:sp>
      <p:sp>
        <p:nvSpPr>
          <p:cNvPr id="7" name="dot-3">
            <a:extLst xmlns:a="http://schemas.openxmlformats.org/drawingml/2006/main">
              <a:ext uri="{FF2B5EF4-FFF2-40B4-BE49-F238E27FC236}">
                <a16:creationId xmlns:a16="http://schemas.microsoft.com/office/drawing/2014/main" id="{7D95A698-6D93-4295-B1B9-050735AA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8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B2BBAC6-5111-43A8-8B74-C32FD9FD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89154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Enfoque: clasificar puntaje alto usando variables del colegio, estudiante y hogar.</a:t>
            </a:r>
          </a:p>
        </p:txBody>
      </p:sp>
    </p:spTree>
    <p:extLst>
      <p:ext uri="{BB962C8B-B14F-4D97-AF65-F5344CB8AC3E}">
        <p14:creationId xmlns:p14="http://schemas.microsoft.com/office/powerpoint/2010/main" val="158817356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D8CE83D-1FA7-4173-97D7-2DEBEFB6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Dataset usado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1FFD95-5212-4B12-9C7B-6BFC3294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5429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Vista_Resultados_unicos_Saber_11_20260521.csv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456F0A-C6E3-4FAD-A1EA-9592F2FF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5124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A8"/>
                </a:solidFill>
              </a:defRPr>
            </a:pPr>
            <a:r>
              <a:t>36.613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01467-170D-40EE-B54A-2AC9A297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512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t>Registros totales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F38B78-B01B-496E-A885-60F8B0A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</a:defRPr>
            </a:pPr>
            <a:r>
              <a:t>Base completa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1102F-8152-433C-893B-B5AD9A5A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33600"/>
            <a:ext cx="5124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A8"/>
                </a:solidFill>
              </a:defRPr>
            </a:pPr>
            <a:r>
              <a:t>51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80D5C-F95D-4625-A331-E38F571F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19400"/>
            <a:ext cx="512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t>Columnas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099E6-AF9F-4670-99FD-3D468BD47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623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</a:defRPr>
            </a:pPr>
            <a:r>
              <a:t>Colegio, estudiante, familia y puntajes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69061-CDDF-47E5-831E-30264C24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133600"/>
            <a:ext cx="51244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A8"/>
                </a:solidFill>
              </a:defRPr>
            </a:pPr>
            <a:r>
              <a:t>23.474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16190-14D9-43F4-9DFF-316B6DD45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819400"/>
            <a:ext cx="5124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t>Registros modelables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49330-0C38-4F61-8328-44578A7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3162300"/>
            <a:ext cx="51244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</a:defRPr>
            </a:pPr>
            <a:r>
              <a:t>Con PUNT_GLOBAL disponible</a:t>
            </a:r>
          </a:p>
        </p:txBody>
      </p:sp>
      <p:sp>
        <p:nvSpPr>
          <p:cNvPr id="12" name="target-note">
            <a:extLst xmlns:a="http://schemas.openxmlformats.org/drawingml/2006/main">
              <a:ext uri="{FF2B5EF4-FFF2-40B4-BE49-F238E27FC236}">
                <a16:creationId xmlns:a16="http://schemas.microsoft.com/office/drawing/2014/main" id="{51C660D2-1A1F-4BBB-BC7D-AD008941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7620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B"/>
                </a:solidFill>
              </a:defRPr>
            </a:pPr>
            <a:r>
              <a:t>Variable objetivo: puntaje_alto = 1 cuando PUNT_GLOBAL &gt;= 300.</a:t>
            </a:r>
          </a:p>
        </p:txBody>
      </p:sp>
    </p:spTree>
    <p:extLst>
      <p:ext uri="{BB962C8B-B14F-4D97-AF65-F5344CB8AC3E}">
        <p14:creationId xmlns:p14="http://schemas.microsoft.com/office/powerpoint/2010/main" val="25245161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E0946EB9-39C9-40CB-9249-AD9FDD88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Metodologia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95BC73-9971-48D3-8F3C-F30A2385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28384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Flujo aplicado al proyecto.</a:t>
            </a:r>
          </a:p>
        </p:txBody>
      </p:sp>
      <p:sp>
        <p:nvSpPr>
          <p:cNvPr id="3" name="dot-1">
            <a:extLst xmlns:a="http://schemas.openxmlformats.org/drawingml/2006/main">
              <a:ext uri="{FF2B5EF4-FFF2-40B4-BE49-F238E27FC236}">
                <a16:creationId xmlns:a16="http://schemas.microsoft.com/office/drawing/2014/main" id="{D65CEFA2-AE87-4219-B37F-457F1DDF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4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84225D2F-653A-4B1B-A46B-2FC33720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82677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Carga del CSV con codificacion UTF-8 y conversion de puntajes a numeros.</a:t>
            </a:r>
          </a:p>
        </p:txBody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42776D8E-120A-4665-A304-881B04E1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6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256D0DB7-0F32-47FF-B539-615C8782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7658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Revision de valores nulos y seleccion de registros con puntaje global.</a:t>
            </a:r>
          </a:p>
        </p:txBody>
      </p:sp>
      <p:sp>
        <p:nvSpPr>
          <p:cNvPr id="7" name="dot-3">
            <a:extLst xmlns:a="http://schemas.openxmlformats.org/drawingml/2006/main">
              <a:ext uri="{FF2B5EF4-FFF2-40B4-BE49-F238E27FC236}">
                <a16:creationId xmlns:a16="http://schemas.microsoft.com/office/drawing/2014/main" id="{9CEEB345-8683-4CDF-9A78-042FEFDF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8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8372392-4D65-4AC6-BC7E-092F7232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9277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Analisis exploratorio: distribucion de puntajes y comparaciones por variables clave.</a:t>
            </a:r>
          </a:p>
        </p:txBody>
      </p:sp>
      <p:sp>
        <p:nvSpPr>
          <p:cNvPr id="9" name="dot-4">
            <a:extLst xmlns:a="http://schemas.openxmlformats.org/drawingml/2006/main">
              <a:ext uri="{FF2B5EF4-FFF2-40B4-BE49-F238E27FC236}">
                <a16:creationId xmlns:a16="http://schemas.microsoft.com/office/drawing/2014/main" id="{88053EFC-407A-4BD7-ADE9-E8B71766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10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EA13A0B7-3FF6-48C4-9379-C15FA8F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9886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Modelo de clasificacion con scikit-learn: preprocesamiento, entrenamiento y evaluacion.</a:t>
            </a:r>
          </a:p>
        </p:txBody>
      </p:sp>
    </p:spTree>
    <p:extLst>
      <p:ext uri="{BB962C8B-B14F-4D97-AF65-F5344CB8AC3E}">
        <p14:creationId xmlns:p14="http://schemas.microsoft.com/office/powerpoint/2010/main" val="4509144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5D888FD6-D6CF-4433-A279-B10326A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Distribucion de resultados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BB0718-762D-4C7B-A82C-3C89FDCBB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609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El puntaje global promedio fue 269,95 y la mediana 269.</a:t>
            </a:r>
          </a:p>
        </p:txBody>
      </p:sp>
      <p:graphicFrame>
        <p:nvGraphicFramePr>
          <p:cNvPr id="3" name="target-chart"/>
          <p:cNvGraphicFramePr/>
          <p:nvPr/>
        </p:nvGraphicFramePr>
        <p:xfrm>
          <a:off xmlns:a="http://schemas.openxmlformats.org/drawingml/2006/main" x="914400" y="2133600"/>
          <a:ext xmlns:a="http://schemas.openxmlformats.org/drawingml/2006/main" cx="164592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4622e33d4ec46b9"/>
          </a:graphicData>
        </a:graphic>
      </p:graphicFrame>
      <p:sp>
        <p:nvSpPr>
          <p:cNvPr id="4" name="chart-note">
            <a:extLst xmlns:a="http://schemas.openxmlformats.org/drawingml/2006/main">
              <a:ext uri="{FF2B5EF4-FFF2-40B4-BE49-F238E27FC236}">
                <a16:creationId xmlns:a16="http://schemas.microsoft.com/office/drawing/2014/main" id="{05D5D61E-9627-4913-ABBE-E3CAB87E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53300"/>
            <a:ext cx="8420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Aproximadamente 25,96% de los registros validos alcanzan 300 puntos o mas.</a:t>
            </a:r>
          </a:p>
        </p:txBody>
      </p:sp>
    </p:spTree>
    <p:extLst>
      <p:ext uri="{BB962C8B-B14F-4D97-AF65-F5344CB8AC3E}">
        <p14:creationId xmlns:p14="http://schemas.microsoft.com/office/powerpoint/2010/main" val="41225346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B97937E6-D742-4F7C-B6FA-55B754B8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Modelo de Machine Learning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F9111EA-7F0D-48C4-9356-B9428071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8534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Random Forest de clasificacion con preprocesamiento de variables categoricas.</a:t>
            </a:r>
          </a:p>
        </p:txBody>
      </p:sp>
      <p:sp>
        <p:nvSpPr>
          <p:cNvPr id="3" name="dot-1">
            <a:extLst xmlns:a="http://schemas.openxmlformats.org/drawingml/2006/main">
              <a:ext uri="{FF2B5EF4-FFF2-40B4-BE49-F238E27FC236}">
                <a16:creationId xmlns:a16="http://schemas.microsoft.com/office/drawing/2014/main" id="{265CA97E-58D3-4E10-AD17-AB67C082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336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4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1F02995-AD2A-4DA4-9BD5-7BC6A76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83439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Predictores: colegio, ubicacion, genero, nacionalidad y variables familiares.</a:t>
            </a:r>
          </a:p>
        </p:txBody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29849D7F-B622-42AC-BE23-6D151BB1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18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6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16702ACF-91EA-4952-BA21-33D1BAA7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12153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No se usan los puntajes por area como predictores principales para evitar dependencia directa del resultado.</a:t>
            </a:r>
          </a:p>
        </p:txBody>
      </p:sp>
      <p:sp>
        <p:nvSpPr>
          <p:cNvPr id="7" name="dot-3">
            <a:extLst xmlns:a="http://schemas.openxmlformats.org/drawingml/2006/main">
              <a:ext uri="{FF2B5EF4-FFF2-40B4-BE49-F238E27FC236}">
                <a16:creationId xmlns:a16="http://schemas.microsoft.com/office/drawing/2014/main" id="{D97BE5E3-6C42-4622-ADB6-1CAF8502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8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18B3F531-6FA2-4489-A37A-97096D7C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86150"/>
            <a:ext cx="64008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Entrenamiento: 18.779 registros. Prueba: 4.695 registros.</a:t>
            </a:r>
          </a:p>
        </p:txBody>
      </p:sp>
      <p:sp>
        <p:nvSpPr>
          <p:cNvPr id="9" name="dot-4">
            <a:extLst xmlns:a="http://schemas.openxmlformats.org/drawingml/2006/main">
              <a:ext uri="{FF2B5EF4-FFF2-40B4-BE49-F238E27FC236}">
                <a16:creationId xmlns:a16="http://schemas.microsoft.com/office/drawing/2014/main" id="{A2FC4D9E-C80D-4BFA-8579-4713BA37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10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1183D24D-3467-44D2-BC3F-942AF8DE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24350"/>
            <a:ext cx="6915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Metrica central: F1-score y recall para la clase de puntaje alto.</a:t>
            </a:r>
          </a:p>
        </p:txBody>
      </p:sp>
    </p:spTree>
    <p:extLst>
      <p:ext uri="{BB962C8B-B14F-4D97-AF65-F5344CB8AC3E}">
        <p14:creationId xmlns:p14="http://schemas.microsoft.com/office/powerpoint/2010/main" val="4496230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4FFC71CE-D831-43FB-AFA9-FA4E5709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Resultados del modelo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9CFB3CD-4B2B-4E3F-BAFB-9EE1DB68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8058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El modelo identifica una parte importante de estudiantes con puntaje alto.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F2BAA0-84C6-488F-9155-C4D9F29A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3848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A8"/>
                </a:solidFill>
              </a:defRPr>
            </a:pPr>
            <a:r>
              <a:t>0,6948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7C703-C4A5-4F85-A670-FB40F6BF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384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t>Accuracy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5721C8-A43B-4C69-ADDA-C3989E1C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67100"/>
            <a:ext cx="384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</a:defRPr>
            </a:pPr>
            <a:r>
              <a:t>Desempeno global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2AD894-D641-48B2-BDA9-90D5AD65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457450"/>
            <a:ext cx="3848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A8"/>
                </a:solidFill>
              </a:defRPr>
            </a:pPr>
            <a:r>
              <a:t>0,4455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725FC-75BD-4CB2-AE6F-BDADAF01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143250"/>
            <a:ext cx="384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t>Precision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14EBE4-2FD7-404F-819A-673686F0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67100"/>
            <a:ext cx="384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</a:defRPr>
            </a:pPr>
            <a:r>
              <a:t>Clase puntaje alto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D6D48-DCB7-460A-808B-20711910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3848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A8"/>
                </a:solidFill>
              </a:defRPr>
            </a:pPr>
            <a:r>
              <a:t>0,7178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FF0569-2D99-46A8-8420-A46E57EB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143250"/>
            <a:ext cx="384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t>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C4783-6971-4173-8FC6-F66DDC41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67100"/>
            <a:ext cx="384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</a:defRPr>
            </a:pPr>
            <a:r>
              <a:t>Clase puntaje alto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B8B168-6EB6-4A26-B886-AA98A14E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457450"/>
            <a:ext cx="38481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2563A8"/>
                </a:solidFill>
              </a:defRPr>
            </a:pPr>
            <a:r>
              <a:t>0,5498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0C8DB-64C7-4D49-9820-4B3EFF27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143250"/>
            <a:ext cx="3848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212B"/>
                </a:solidFill>
              </a:defRPr>
            </a:pPr>
            <a:r>
              <a:t>F1-score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B1025-EC58-45E8-8D38-B68AA539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467100"/>
            <a:ext cx="384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16B"/>
                </a:solidFill>
              </a:defRPr>
            </a:pPr>
            <a:r>
              <a:t>Clase puntaje alto</a:t>
            </a:r>
          </a:p>
        </p:txBody>
      </p:sp>
      <p:sp>
        <p:nvSpPr>
          <p:cNvPr id="15" name="confusion">
            <a:extLst xmlns:a="http://schemas.openxmlformats.org/drawingml/2006/main">
              <a:ext uri="{FF2B5EF4-FFF2-40B4-BE49-F238E27FC236}">
                <a16:creationId xmlns:a16="http://schemas.microsoft.com/office/drawing/2014/main" id="{08660659-394B-4EC7-B595-C7FEBE8F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62103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B"/>
                </a:solidFill>
              </a:defRPr>
            </a:pPr>
            <a:r>
              <a:t>Matriz de confusion: 2.387 VN, 1.089 FP, 344 FN y 875 VP.</a:t>
            </a:r>
          </a:p>
        </p:txBody>
      </p:sp>
    </p:spTree>
    <p:extLst>
      <p:ext uri="{BB962C8B-B14F-4D97-AF65-F5344CB8AC3E}">
        <p14:creationId xmlns:p14="http://schemas.microsoft.com/office/powerpoint/2010/main" val="17640498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0BA17028-18F2-45AC-8FEE-A27993A8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Recomendaciones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C98885-E2F0-44FA-9B4C-68708D78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948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El modelo debe usarse como apoyo exploratorio, no como decision definitiva individual.</a:t>
            </a:r>
          </a:p>
        </p:txBody>
      </p:sp>
      <p:sp>
        <p:nvSpPr>
          <p:cNvPr id="3" name="dot-1">
            <a:extLst xmlns:a="http://schemas.openxmlformats.org/drawingml/2006/main">
              <a:ext uri="{FF2B5EF4-FFF2-40B4-BE49-F238E27FC236}">
                <a16:creationId xmlns:a16="http://schemas.microsoft.com/office/drawing/2014/main" id="{B10B33B1-1AA3-42C7-8C89-7D10D52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4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AD40B65-06BB-4C5C-8E2F-CEF1FB9B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95631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Fortalecer acompanamiento a estudiantes con menor acceso a recursos tecnologicos.</a:t>
            </a:r>
          </a:p>
        </p:txBody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18C8F547-FE23-4BDC-BAF1-A5F6EB01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6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9566E1B-A111-4639-87B5-15F07530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7467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Revisar diferencias por jornada, naturaleza del colegio y municipio.</a:t>
            </a:r>
          </a:p>
        </p:txBody>
      </p:sp>
      <p:sp>
        <p:nvSpPr>
          <p:cNvPr id="7" name="dot-3">
            <a:extLst xmlns:a="http://schemas.openxmlformats.org/drawingml/2006/main">
              <a:ext uri="{FF2B5EF4-FFF2-40B4-BE49-F238E27FC236}">
                <a16:creationId xmlns:a16="http://schemas.microsoft.com/office/drawing/2014/main" id="{B6020950-307A-4801-9AAB-48B53DAD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8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7EB7127B-E63B-435F-8950-583FF802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904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Complementar el analisis cuantitativo con informacion institucional y academica.</a:t>
            </a:r>
          </a:p>
        </p:txBody>
      </p:sp>
      <p:sp>
        <p:nvSpPr>
          <p:cNvPr id="9" name="dot-4">
            <a:extLst xmlns:a="http://schemas.openxmlformats.org/drawingml/2006/main">
              <a:ext uri="{FF2B5EF4-FFF2-40B4-BE49-F238E27FC236}">
                <a16:creationId xmlns:a16="http://schemas.microsoft.com/office/drawing/2014/main" id="{984B9CFD-00DA-4FAE-A9F3-B78D01E3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10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1A14AD9D-CB02-45CC-986F-0DED2F58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10115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Mejorar el modelo probando otros algoritmos y validando variables con criterio educativo.</a:t>
            </a:r>
          </a:p>
        </p:txBody>
      </p:sp>
    </p:spTree>
    <p:extLst>
      <p:ext uri="{BB962C8B-B14F-4D97-AF65-F5344CB8AC3E}">
        <p14:creationId xmlns:p14="http://schemas.microsoft.com/office/powerpoint/2010/main" val="187002189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DE988955-A9EE-4215-B64A-14830C31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7212B"/>
                </a:solidFill>
              </a:defRPr>
            </a:pPr>
            <a:r>
              <a:t>Limitaciones y cierre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F93A13E-D549-466E-94EC-9B5B4BECF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104394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52616B"/>
                </a:solidFill>
              </a:defRPr>
            </a:pPr>
            <a:r>
              <a:t>El proyecto integra limpieza, EDA, visualizacion, Machine Learning y comunicacion de resultados.</a:t>
            </a:r>
          </a:p>
        </p:txBody>
      </p:sp>
      <p:sp>
        <p:nvSpPr>
          <p:cNvPr id="3" name="dot-1">
            <a:extLst xmlns:a="http://schemas.openxmlformats.org/drawingml/2006/main">
              <a:ext uri="{FF2B5EF4-FFF2-40B4-BE49-F238E27FC236}">
                <a16:creationId xmlns:a16="http://schemas.microsoft.com/office/drawing/2014/main" id="{FE25F21D-05EE-483C-8581-F3943A41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4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28FE7B3-A8AF-4FC5-B83E-C62D62B6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57450"/>
            <a:ext cx="81343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Hay registros sin PUNT_GLOBAL, por eso no todos se usan para entrenar.</a:t>
            </a:r>
          </a:p>
        </p:txBody>
      </p:sp>
      <p:sp>
        <p:nvSpPr>
          <p:cNvPr id="5" name="dot-2">
            <a:extLst xmlns:a="http://schemas.openxmlformats.org/drawingml/2006/main">
              <a:ext uri="{FF2B5EF4-FFF2-40B4-BE49-F238E27FC236}">
                <a16:creationId xmlns:a16="http://schemas.microsoft.com/office/drawing/2014/main" id="{7E2B1206-0FDE-44A6-A2C2-D49AF828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6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E57B42F2-40E7-4E9A-8C23-D28F3AAA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53149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El modelo muestra asociaciones, no causalidad.</a:t>
            </a:r>
          </a:p>
        </p:txBody>
      </p:sp>
      <p:sp>
        <p:nvSpPr>
          <p:cNvPr id="7" name="dot-3">
            <a:extLst xmlns:a="http://schemas.openxmlformats.org/drawingml/2006/main">
              <a:ext uri="{FF2B5EF4-FFF2-40B4-BE49-F238E27FC236}">
                <a16:creationId xmlns:a16="http://schemas.microsoft.com/office/drawing/2014/main" id="{D55FE024-1F8C-4292-9122-55BA6DBE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8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28E53FD-42E7-414F-9AAF-EFF94530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81153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El umbral de 300 puntos puede ajustarse segun el criterio de evaluacion.</a:t>
            </a:r>
          </a:p>
        </p:txBody>
      </p:sp>
      <p:sp>
        <p:nvSpPr>
          <p:cNvPr id="9" name="dot-4">
            <a:extLst xmlns:a="http://schemas.openxmlformats.org/drawingml/2006/main">
              <a:ext uri="{FF2B5EF4-FFF2-40B4-BE49-F238E27FC236}">
                <a16:creationId xmlns:a16="http://schemas.microsoft.com/office/drawing/2014/main" id="{C1274A51-A7D3-429D-840C-335BFF67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266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94B82D"/>
                </a:solidFill>
              </a:defRPr>
            </a:pPr>
            <a:r>
              <a:t>•</a:t>
            </a:r>
          </a:p>
        </p:txBody>
      </p:sp>
      <p:sp>
        <p:nvSpPr>
          <p:cNvPr id="10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D5BA16A8-7A7C-4BE3-872B-05830FBF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9315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B"/>
                </a:solidFill>
              </a:defRPr>
            </a:pPr>
            <a:r>
              <a:t>Siguiente paso: preparar discurso de 15-20 minutos y subir el repositorio completo.</a:t>
            </a:r>
          </a:p>
        </p:txBody>
      </p:sp>
    </p:spTree>
    <p:extLst>
      <p:ext uri="{BB962C8B-B14F-4D97-AF65-F5344CB8AC3E}">
        <p14:creationId xmlns:p14="http://schemas.microsoft.com/office/powerpoint/2010/main" val="16753036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2026-05-21T13:50:52.4360000Z</dcterms:created>
  <dcterms:modified xsi:type="dcterms:W3CDTF">2026-05-21T13:50:52.4360000Z</dcterms:modified>
</coreProperties>
</file>